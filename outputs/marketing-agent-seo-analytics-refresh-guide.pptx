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c130aa428b4425c" /><Relationship Type="http://schemas.openxmlformats.org/officeDocument/2006/relationships/extended-properties" Target="/docProps/app.xml" Id="R68f63a870fd84ee4" /><Relationship Type="http://schemas.openxmlformats.org/officeDocument/2006/relationships/officeDocument" Target="/ppt/presentation.xml" Id="Rf01174d0f7a340c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f52866f83364be4"/>
  </p:sldMasterIdLst>
  <p:notesMasterIdLst>
    <p:notesMasterId xmlns:r="http://schemas.openxmlformats.org/officeDocument/2006/relationships" r:id="Rb58ac948ed61407e"/>
  </p:notesMasterIdLst>
  <p:sldIdLst>
    <p:sldId xmlns:r="http://schemas.openxmlformats.org/officeDocument/2006/relationships" id="256" r:id="R0910410964c4488a"/>
    <p:sldId xmlns:r="http://schemas.openxmlformats.org/officeDocument/2006/relationships" id="257" r:id="R126d11d5a288430f"/>
    <p:sldId xmlns:r="http://schemas.openxmlformats.org/officeDocument/2006/relationships" id="258" r:id="R52354768347f4692"/>
    <p:sldId xmlns:r="http://schemas.openxmlformats.org/officeDocument/2006/relationships" id="259" r:id="R5ff9ff0cb01e4f01"/>
    <p:sldId xmlns:r="http://schemas.openxmlformats.org/officeDocument/2006/relationships" id="260" r:id="R4d61fc316e644375"/>
    <p:sldId xmlns:r="http://schemas.openxmlformats.org/officeDocument/2006/relationships" id="261" r:id="Rc8236dbc28564331"/>
    <p:sldId xmlns:r="http://schemas.openxmlformats.org/officeDocument/2006/relationships" id="262" r:id="R1ddd66412ed24d54"/>
    <p:sldId xmlns:r="http://schemas.openxmlformats.org/officeDocument/2006/relationships" id="263" r:id="R670c57308a8b47d0"/>
    <p:sldId xmlns:r="http://schemas.openxmlformats.org/officeDocument/2006/relationships" id="264" r:id="R8835e0fc20d84a9a"/>
    <p:sldId xmlns:r="http://schemas.openxmlformats.org/officeDocument/2006/relationships" id="265" r:id="R2d46ec2e09484887"/>
    <p:sldId xmlns:r="http://schemas.openxmlformats.org/officeDocument/2006/relationships" id="266" r:id="R77fe839048cd4a4b"/>
    <p:sldId xmlns:r="http://schemas.openxmlformats.org/officeDocument/2006/relationships" id="267" r:id="R2fadd5d87d934b1a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3fcc1025616496a" /><Relationship Type="http://schemas.openxmlformats.org/officeDocument/2006/relationships/slideMaster" Target="/ppt/slideMasters/slideMaster1.xml" Id="R1f52866f83364be4" /><Relationship Type="http://schemas.openxmlformats.org/officeDocument/2006/relationships/notesMaster" Target="/ppt/notesMasters/notesMaster1.xml" Id="Rb58ac948ed61407e" /><Relationship Type="http://schemas.openxmlformats.org/officeDocument/2006/relationships/presProps" Target="/ppt/presProps.xml" Id="R00f5681d14d34f3a" /><Relationship Type="http://schemas.openxmlformats.org/officeDocument/2006/relationships/tableStyles" Target="/ppt/tableStyles.xml" Id="Rfd5fd05678cb4ed2" /><Relationship Type="http://schemas.openxmlformats.org/officeDocument/2006/relationships/slide" Target="/ppt/slides/slide1.xml" Id="R0910410964c4488a" /><Relationship Type="http://schemas.openxmlformats.org/officeDocument/2006/relationships/slide" Target="/ppt/slides/slide2.xml" Id="R126d11d5a288430f" /><Relationship Type="http://schemas.openxmlformats.org/officeDocument/2006/relationships/slide" Target="/ppt/slides/slide3.xml" Id="R52354768347f4692" /><Relationship Type="http://schemas.openxmlformats.org/officeDocument/2006/relationships/slide" Target="/ppt/slides/slide4.xml" Id="R5ff9ff0cb01e4f01" /><Relationship Type="http://schemas.openxmlformats.org/officeDocument/2006/relationships/slide" Target="/ppt/slides/slide5.xml" Id="R4d61fc316e644375" /><Relationship Type="http://schemas.openxmlformats.org/officeDocument/2006/relationships/slide" Target="/ppt/slides/slide6.xml" Id="Rc8236dbc28564331" /><Relationship Type="http://schemas.openxmlformats.org/officeDocument/2006/relationships/slide" Target="/ppt/slides/slide7.xml" Id="R1ddd66412ed24d54" /><Relationship Type="http://schemas.openxmlformats.org/officeDocument/2006/relationships/slide" Target="/ppt/slides/slide8.xml" Id="R670c57308a8b47d0" /><Relationship Type="http://schemas.openxmlformats.org/officeDocument/2006/relationships/slide" Target="/ppt/slides/slide9.xml" Id="R8835e0fc20d84a9a" /><Relationship Type="http://schemas.openxmlformats.org/officeDocument/2006/relationships/slide" Target="/ppt/slides/slide10.xml" Id="R2d46ec2e09484887" /><Relationship Type="http://schemas.openxmlformats.org/officeDocument/2006/relationships/slide" Target="/ppt/slides/slide11.xml" Id="R77fe839048cd4a4b" /><Relationship Type="http://schemas.openxmlformats.org/officeDocument/2006/relationships/slide" Target="/ppt/slides/slide12.xml" Id="R2fadd5d87d934b1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f6955c2713f48f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6d9e80fbe444a1c" /><Relationship Type="http://schemas.openxmlformats.org/officeDocument/2006/relationships/notesMaster" Target="/ppt/notesMasters/notesMaster1.xml" Id="R012409c438a647b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2b8ad0e42a14586" /><Relationship Type="http://schemas.openxmlformats.org/officeDocument/2006/relationships/notesMaster" Target="/ppt/notesMasters/notesMaster1.xml" Id="Rb3e0712f75004e9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cd5e23d586a435c" /><Relationship Type="http://schemas.openxmlformats.org/officeDocument/2006/relationships/notesMaster" Target="/ppt/notesMasters/notesMaster1.xml" Id="R97f651c78c9948b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bd96a72bcd84ad7" /><Relationship Type="http://schemas.openxmlformats.org/officeDocument/2006/relationships/notesMaster" Target="/ppt/notesMasters/notesMaster1.xml" Id="R20c7cc16084f453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55c07aa8ab74b5b" /><Relationship Type="http://schemas.openxmlformats.org/officeDocument/2006/relationships/notesMaster" Target="/ppt/notesMasters/notesMaster1.xml" Id="Rd0fa206b4ea8432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bf937e11947441c" /><Relationship Type="http://schemas.openxmlformats.org/officeDocument/2006/relationships/notesMaster" Target="/ppt/notesMasters/notesMaster1.xml" Id="Re63908f91a3649b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19cf47121e24ad8" /><Relationship Type="http://schemas.openxmlformats.org/officeDocument/2006/relationships/notesMaster" Target="/ppt/notesMasters/notesMaster1.xml" Id="R9eeeda90c8254fa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91cb7388f2c4575" /><Relationship Type="http://schemas.openxmlformats.org/officeDocument/2006/relationships/notesMaster" Target="/ppt/notesMasters/notesMaster1.xml" Id="R3b26840936be460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78e9efdcd914376" /><Relationship Type="http://schemas.openxmlformats.org/officeDocument/2006/relationships/notesMaster" Target="/ppt/notesMasters/notesMaster1.xml" Id="R6727c905259f430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011fb5804eb46a7" /><Relationship Type="http://schemas.openxmlformats.org/officeDocument/2006/relationships/notesMaster" Target="/ppt/notesMasters/notesMaster1.xml" Id="R27c54edf1536456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51c9a21f58247e0" /><Relationship Type="http://schemas.openxmlformats.org/officeDocument/2006/relationships/notesMaster" Target="/ppt/notesMasters/notesMaster1.xml" Id="R913761ad3f85430d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4042ae2593d24039" /><Relationship Type="http://schemas.openxmlformats.org/officeDocument/2006/relationships/notesMaster" Target="/ppt/notesMasters/notesMaster1.xml" Id="R62318b89b93f4ee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3e229df65d045a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16e55a4c820419d" /><Relationship Type="http://schemas.openxmlformats.org/officeDocument/2006/relationships/slideLayout" Target="/ppt/slideLayouts/slideLayout1.xml" Id="Re2518ee7d261427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2518ee7d261427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c89b685eff4e74" /><Relationship Type="http://schemas.openxmlformats.org/officeDocument/2006/relationships/notesSlide" Target="/ppt/notesSlides/notesSlide1.xml" Id="R40aa1ddf9589404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fc75ea33814121" /><Relationship Type="http://schemas.openxmlformats.org/officeDocument/2006/relationships/notesSlide" Target="/ppt/notesSlides/notesSlide2.xml" Id="R75b39900c50844c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ad4db25fe14065" /><Relationship Type="http://schemas.openxmlformats.org/officeDocument/2006/relationships/notesSlide" Target="/ppt/notesSlides/notesSlide3.xml" Id="Rf18c0e4d321445a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1e43263c044893" /><Relationship Type="http://schemas.openxmlformats.org/officeDocument/2006/relationships/notesSlide" Target="/ppt/notesSlides/notesSlide4.xml" Id="R168909c413834b4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23eec5c0dc4cb8" /><Relationship Type="http://schemas.openxmlformats.org/officeDocument/2006/relationships/notesSlide" Target="/ppt/notesSlides/notesSlide5.xml" Id="R6a481cbe1c35495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2e84b78d164f5e" /><Relationship Type="http://schemas.openxmlformats.org/officeDocument/2006/relationships/notesSlide" Target="/ppt/notesSlides/notesSlide6.xml" Id="Rb749d2e6d9e44b5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806b6dbcb14f5f" /><Relationship Type="http://schemas.openxmlformats.org/officeDocument/2006/relationships/notesSlide" Target="/ppt/notesSlides/notesSlide7.xml" Id="R2a795b42bb51493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054a34dd0745e1" /><Relationship Type="http://schemas.openxmlformats.org/officeDocument/2006/relationships/notesSlide" Target="/ppt/notesSlides/notesSlide8.xml" Id="Re06a6343d8fb439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99aa7c89ed46ca" /><Relationship Type="http://schemas.openxmlformats.org/officeDocument/2006/relationships/notesSlide" Target="/ppt/notesSlides/notesSlide9.xml" Id="Re5ec2dc80cdf40d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9568c48d614586" /><Relationship Type="http://schemas.openxmlformats.org/officeDocument/2006/relationships/notesSlide" Target="/ppt/notesSlides/notesSlide10.xml" Id="Rbac7994a4b0f4cf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2d62102e57468f" /><Relationship Type="http://schemas.openxmlformats.org/officeDocument/2006/relationships/notesSlide" Target="/ppt/notesSlides/notesSlide11.xml" Id="R56bd703798834443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e2db5ea8674e77" /><Relationship Type="http://schemas.openxmlformats.org/officeDocument/2006/relationships/notesSlide" Target="/ppt/notesSlides/notesSlide12.xml" Id="R6659206193034c7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62C62EA-3354-42B4-B435-6260979D9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0005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55555"/>
                </a:solidFill>
              </a:defRPr>
            </a:pPr>
            <a:r>
              <a:rPr sz="1200" b="1">
                <a:solidFill>
                  <a:srgbClr val="555555"/>
                </a:solidFill>
              </a:rPr>
              <a:t>CLIENT EXPLANATION DECK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2BDAA6-B2EF-4989-B8E2-95CF4726F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428750"/>
            <a:ext cx="80962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950" b="1">
                <a:solidFill>
                  <a:srgbClr val="000000"/>
                </a:solidFill>
              </a:defRPr>
            </a:pPr>
            <a:r>
              <a:rPr sz="4950" b="1">
                <a:solidFill>
                  <a:srgbClr val="000000"/>
                </a:solidFill>
              </a:rPr>
              <a:t>SEO Analytics / Refresh Agent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2658EA-FE8A-46CD-8896-1D2B86C3C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81000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2F7BA6-A48B-4C6F-9331-51E871600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171950"/>
            <a:ext cx="7524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55555"/>
                </a:solidFill>
              </a:defRPr>
            </a:pPr>
            <a:r>
              <a:rPr sz="1950" b="0">
                <a:solidFill>
                  <a:srgbClr val="555555"/>
                </a:solidFill>
              </a:rPr>
              <a:t>How the Marketing Agent turns SEO landing pages into a measurable, self-improving demand generation loop.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CD4E77-E405-4172-9CFB-7B36119E7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019800"/>
            <a:ext cx="161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555555"/>
                </a:solidFill>
              </a:defRPr>
            </a:pPr>
            <a:r>
              <a:rPr sz="1275" b="1">
                <a:solidFill>
                  <a:srgbClr val="555555"/>
                </a:solidFill>
              </a:rPr>
              <a:t>Marketing Agent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DFE6BD-5EA3-41F4-8577-4D1555BFE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436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69835254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C267033-14F5-4104-9725-7C632A06D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552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Marketing Agent / SEO Analytics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B3126A-8FAD-4D98-AA87-CA1EC3474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42950"/>
            <a:ext cx="9525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00000"/>
                </a:solidFill>
              </a:defRPr>
            </a:pPr>
            <a:r>
              <a:rPr sz="3150" b="1">
                <a:solidFill>
                  <a:srgbClr val="000000"/>
                </a:solidFill>
              </a:rPr>
              <a:t>The core idea: SEO is a feedback loop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2CDD2D-8D98-457A-92F6-8BCEC1E52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6685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288387-0729-4311-8F81-1D4BFF3C4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38375"/>
            <a:ext cx="2652713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CA7242-816D-48C4-ADC5-CCCA42B7B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409825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55555"/>
                </a:solidFill>
              </a:defRPr>
            </a:pPr>
            <a:r>
              <a:rPr sz="1350" b="1">
                <a:solidFill>
                  <a:srgbClr val="555555"/>
                </a:solidFill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B068E2-0B39-4216-AEE2-236777D91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790825"/>
            <a:ext cx="2309813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0000"/>
                </a:solidFill>
              </a:defRPr>
            </a:pPr>
            <a:r>
              <a:rPr sz="1725" b="1">
                <a:solidFill>
                  <a:srgbClr val="000000"/>
                </a:solidFill>
              </a:rPr>
              <a:t>Find demand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D1DD65-C2D7-4DB1-A3B6-73B2352E1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419475"/>
            <a:ext cx="2309813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Research buyer intent and keyword opportunities for the target audience.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797C35-B508-4B21-AB58-852030A20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6113" y="3429000"/>
            <a:ext cx="171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B11FE13-43AB-4BA9-BB1A-95CF4A4FF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7563" y="2238375"/>
            <a:ext cx="2652713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9A2D3AE-1F47-466E-AA85-C864AB900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9013" y="2409825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55555"/>
                </a:solidFill>
              </a:defRPr>
            </a:pPr>
            <a:r>
              <a:rPr sz="1350" b="1">
                <a:solidFill>
                  <a:srgbClr val="555555"/>
                </a:solidFill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D1ECBE7-69E4-496D-ABFA-93CC2D7BB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9013" y="2790825"/>
            <a:ext cx="2309813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0000"/>
                </a:solidFill>
              </a:defRPr>
            </a:pPr>
            <a:r>
              <a:rPr sz="1725" b="1">
                <a:solidFill>
                  <a:srgbClr val="000000"/>
                </a:solidFill>
              </a:rPr>
              <a:t>Create pages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9B0C1F7-CA45-4004-8980-21D016FD1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9013" y="3419475"/>
            <a:ext cx="2309813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Publish focused SEO landing pages with clear offers and conversion paths.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6953B76-1C33-4B06-B8E5-B348AE352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0275" y="3429000"/>
            <a:ext cx="171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6593E7C-F5F3-44F5-8A4E-FB914DA41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2238375"/>
            <a:ext cx="2652713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2878041-4909-4689-80F0-A270870B0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2409825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55555"/>
                </a:solidFill>
              </a:defRPr>
            </a:pPr>
            <a:r>
              <a:rPr sz="1350" b="1">
                <a:solidFill>
                  <a:srgbClr val="555555"/>
                </a:solidFill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53362A4-0457-4B83-BD0D-62C965C7E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2790825"/>
            <a:ext cx="2309813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0000"/>
                </a:solidFill>
              </a:defRPr>
            </a:pPr>
            <a:r>
              <a:rPr sz="1725" b="1">
                <a:solidFill>
                  <a:srgbClr val="000000"/>
                </a:solidFill>
              </a:rPr>
              <a:t>Capture leads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6C828F7-8594-47B1-91BF-6D00FFAE1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3419475"/>
            <a:ext cx="2309813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Track form submissions, lead score, source, page, and campaign context.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C503474-FD14-4804-88EF-4418099B2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4438" y="3429000"/>
            <a:ext cx="171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B90849D-F7B3-43B4-9E2F-45F39EDAC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5888" y="2238375"/>
            <a:ext cx="2652713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013B9F2-7695-4B1A-B570-A29A3C72B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7338" y="2409825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55555"/>
                </a:solidFill>
              </a:defRPr>
            </a:pPr>
            <a:r>
              <a:rPr sz="1350" b="1">
                <a:solidFill>
                  <a:srgbClr val="555555"/>
                </a:solidFill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A1C89FD-FDC0-4275-BBAF-8B01EA016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7338" y="2790825"/>
            <a:ext cx="2309813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0000"/>
                </a:solidFill>
              </a:defRPr>
            </a:pPr>
            <a:r>
              <a:rPr sz="1725" b="1">
                <a:solidFill>
                  <a:srgbClr val="000000"/>
                </a:solidFill>
              </a:rPr>
              <a:t>Refresh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5EFBEE8-0804-4E6D-A1BD-566398FB2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7338" y="3419475"/>
            <a:ext cx="2309813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Use performance signals to decide whether to wait, rewrite, or scale.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95E73CD-F640-4B6E-8BFB-41FCDAACC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91125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0000"/>
                </a:solidFill>
              </a:defRPr>
            </a:pPr>
            <a:r>
              <a:rPr sz="1500" b="1">
                <a:solidFill>
                  <a:srgbClr val="000000"/>
                </a:solidFill>
              </a:rPr>
              <a:t>Client message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97105DF-2380-4045-85B5-EAAE3EA64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0"/>
            <a:ext cx="857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55555"/>
                </a:solidFill>
              </a:defRPr>
            </a:pPr>
            <a:r>
              <a:rPr sz="1800" b="0">
                <a:solidFill>
                  <a:srgbClr val="555555"/>
                </a:solidFill>
              </a:rPr>
              <a:t>This is not just an AI content generator. It is a repeatable operating loop for qualified organic demand.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2641C68-B632-45A0-BE62-329C29758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436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207632045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9CDDA4F-8695-4D92-8CDE-D512FBA11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552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Marketing Agent / SEO Analytics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251EFE-02DB-4222-A714-620A7049B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42950"/>
            <a:ext cx="9525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00000"/>
                </a:solidFill>
              </a:defRPr>
            </a:pPr>
            <a:r>
              <a:rPr sz="3150" b="1">
                <a:solidFill>
                  <a:srgbClr val="000000"/>
                </a:solidFill>
              </a:rPr>
              <a:t>Where SEO lives in the agent system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EDBC5E-0B8A-4051-A709-02421730E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6685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06E8DE-DC9F-4B56-97A1-672866297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1095375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944F98-71E3-4DAE-85F9-93E877101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10953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6A1AA6-16DA-4233-A99B-8E6326E60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1952625"/>
            <a:ext cx="14288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B616BC-ECA4-4CB1-B933-0B1395502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1952625"/>
            <a:ext cx="14288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6B74A78-50B7-4F03-85B0-990D28C1A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09825"/>
            <a:ext cx="109537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F4C075E-C2F4-4277-B36D-CAD4362F5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33713"/>
            <a:ext cx="1095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08C6222-93D0-4A9F-AC57-5DC78547A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57600"/>
            <a:ext cx="1095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49E3321-778D-4043-BD39-744802E93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1488"/>
            <a:ext cx="1095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9B3E963-C34F-4DB0-9196-378A1ECFD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05375"/>
            <a:ext cx="1095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B38DDDB-4802-4BF2-9E58-422AB7FCA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76450"/>
            <a:ext cx="2114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55555"/>
                </a:solidFill>
              </a:defRPr>
            </a:pPr>
            <a:r>
              <a:rPr sz="1200" b="1">
                <a:solidFill>
                  <a:srgbClr val="555555"/>
                </a:solidFill>
              </a:rPr>
              <a:t>Agent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65EACA1-ECCF-4689-B56A-C51482497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2076450"/>
            <a:ext cx="5257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55555"/>
                </a:solidFill>
              </a:defRPr>
            </a:pPr>
            <a:r>
              <a:rPr sz="1200" b="1">
                <a:solidFill>
                  <a:srgbClr val="555555"/>
                </a:solidFill>
              </a:rPr>
              <a:t>SEO responsibility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96C7546-20CF-49E8-9699-9D74CA722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076450"/>
            <a:ext cx="2781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55555"/>
                </a:solidFill>
              </a:defRPr>
            </a:pPr>
            <a:r>
              <a:rPr sz="1200" b="1">
                <a:solidFill>
                  <a:srgbClr val="555555"/>
                </a:solidFill>
              </a:rPr>
              <a:t>Output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EBAB2BD-EE6C-4308-B986-C904433AF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24125"/>
            <a:ext cx="2114550" cy="4905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00000"/>
                </a:solidFill>
              </a:defRPr>
            </a:pPr>
            <a:r>
              <a:rPr sz="1125" b="0">
                <a:solidFill>
                  <a:srgbClr val="000000"/>
                </a:solidFill>
              </a:rPr>
              <a:t>Research Agent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FCEA2DF-8C74-4E0F-80E0-480AC2454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2524125"/>
            <a:ext cx="5257800" cy="4905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00000"/>
                </a:solidFill>
              </a:defRPr>
            </a:pPr>
            <a:r>
              <a:rPr sz="1125" b="0">
                <a:solidFill>
                  <a:srgbClr val="000000"/>
                </a:solidFill>
              </a:rPr>
              <a:t>Find buyer-intent keywords and demand signals.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4C900C9-DA77-486A-843F-FDAEBD1D5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524125"/>
            <a:ext cx="2781300" cy="4905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00000"/>
                </a:solidFill>
              </a:defRPr>
            </a:pPr>
            <a:r>
              <a:rPr sz="1125" b="0">
                <a:solidFill>
                  <a:srgbClr val="000000"/>
                </a:solidFill>
              </a:rPr>
              <a:t>DemandSignal records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5F8AC58-7D78-445A-B6BC-46B7DFECA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48013"/>
            <a:ext cx="2114550" cy="4905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00000"/>
                </a:solidFill>
              </a:defRPr>
            </a:pPr>
            <a:r>
              <a:rPr sz="1125" b="0">
                <a:solidFill>
                  <a:srgbClr val="000000"/>
                </a:solidFill>
              </a:rPr>
              <a:t>Content/Page Creation Agent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C5A4D69-6CE2-4C02-9989-BD54D4469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3148013"/>
            <a:ext cx="5257800" cy="4905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00000"/>
                </a:solidFill>
              </a:defRPr>
            </a:pPr>
            <a:r>
              <a:rPr sz="1125" b="0">
                <a:solidFill>
                  <a:srgbClr val="000000"/>
                </a:solidFill>
              </a:rPr>
              <a:t>Create SEO landing pages with title, hero, sections, CTA, and metadata.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91163FB-8831-4B5B-A8CD-B5B31092E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148013"/>
            <a:ext cx="2781300" cy="4905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00000"/>
                </a:solidFill>
              </a:defRPr>
            </a:pPr>
            <a:r>
              <a:rPr sz="1125" b="0">
                <a:solidFill>
                  <a:srgbClr val="000000"/>
                </a:solidFill>
              </a:rPr>
              <a:t>LandingPage records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8566D74-8F1A-4E1D-980D-137EBB030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71900"/>
            <a:ext cx="2114550" cy="4905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00000"/>
                </a:solidFill>
              </a:defRPr>
            </a:pPr>
            <a:r>
              <a:rPr sz="1125" b="0">
                <a:solidFill>
                  <a:srgbClr val="000000"/>
                </a:solidFill>
              </a:rPr>
              <a:t>Lead Capture Agent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34352A4-71DD-4ECB-86EE-7391746F5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3771900"/>
            <a:ext cx="5257800" cy="4905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00000"/>
                </a:solidFill>
              </a:defRPr>
            </a:pPr>
            <a:r>
              <a:rPr sz="1125" b="0">
                <a:solidFill>
                  <a:srgbClr val="000000"/>
                </a:solidFill>
              </a:rPr>
              <a:t>Measure whether organic visitors become qualified leads.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EE054DF-5473-4816-91D7-E8F300BC5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771900"/>
            <a:ext cx="2781300" cy="4905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00000"/>
                </a:solidFill>
              </a:defRPr>
            </a:pPr>
            <a:r>
              <a:rPr sz="1125" b="0">
                <a:solidFill>
                  <a:srgbClr val="000000"/>
                </a:solidFill>
              </a:rPr>
              <a:t>Lead records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48EB278-DE3B-48F9-8065-A6E44B792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395788"/>
            <a:ext cx="2114550" cy="4905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00000"/>
                </a:solidFill>
              </a:defRPr>
            </a:pPr>
            <a:r>
              <a:rPr sz="1125" b="0">
                <a:solidFill>
                  <a:srgbClr val="000000"/>
                </a:solidFill>
              </a:rPr>
              <a:t>Analytics/Refresh Agent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64D3400-E5DA-448E-AD34-C70C7B5E0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4395788"/>
            <a:ext cx="5257800" cy="4905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00000"/>
                </a:solidFill>
              </a:defRPr>
            </a:pPr>
            <a:r>
              <a:rPr sz="1125" b="0">
                <a:solidFill>
                  <a:srgbClr val="000000"/>
                </a:solidFill>
              </a:rPr>
              <a:t>Review visits and conversions; recommend wait, rewrite, or scale.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5A3FEFF-3664-49A1-A414-A9D2C9C96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4395788"/>
            <a:ext cx="2781300" cy="4905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00000"/>
                </a:solidFill>
              </a:defRPr>
            </a:pPr>
            <a:r>
              <a:rPr sz="1125" b="0">
                <a:solidFill>
                  <a:srgbClr val="000000"/>
                </a:solidFill>
              </a:rPr>
              <a:t>RefreshRecommendation records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5607470-8808-4C5C-A6D5-A5B3776BD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381625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0000"/>
                </a:solidFill>
              </a:defRPr>
            </a:pPr>
            <a:r>
              <a:rPr sz="1500" b="1">
                <a:solidFill>
                  <a:srgbClr val="000000"/>
                </a:solidFill>
              </a:rPr>
              <a:t>Simple positioning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52951A8-D59C-4832-936E-602E49AFF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715000"/>
            <a:ext cx="933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</a:defRPr>
            </a:pPr>
            <a:r>
              <a:rPr sz="1650" b="0">
                <a:solidFill>
                  <a:srgbClr val="555555"/>
                </a:solidFill>
              </a:rPr>
              <a:t>The system connects SEO visibility to revenue intent by tying every landing page to lead capture and refresh recommendations.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962823F-EF23-4536-A818-3E5BBB62B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436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204437947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6B55AFC-D7DE-4ADF-9BBA-B1B795F84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552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Marketing Agent / SEO Analytics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FA7583-9397-4F23-9D23-95E63A0E8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42950"/>
            <a:ext cx="9525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00000"/>
                </a:solidFill>
              </a:defRPr>
            </a:pPr>
            <a:r>
              <a:rPr sz="3150" b="1">
                <a:solidFill>
                  <a:srgbClr val="000000"/>
                </a:solidFill>
              </a:rPr>
              <a:t>What the current Analytics/Refresh Agent does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FC1595-DD85-4A97-AAF8-795283D7B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6685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208F29-0C50-4DB5-A236-ACA913349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000250"/>
            <a:ext cx="23812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0E98A7-995B-4518-98C9-0BC3BE2E0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71700"/>
            <a:ext cx="1619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00000"/>
                </a:solidFill>
              </a:defRPr>
            </a:pPr>
            <a:r>
              <a:rPr sz="3150" b="1">
                <a:solidFill>
                  <a:srgbClr val="000000"/>
                </a:solidFill>
              </a:rPr>
              <a:t>Visits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5BD3AB-45A1-4EDE-A453-25CE52087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0510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55555"/>
                </a:solidFill>
              </a:defRPr>
            </a:pPr>
            <a:r>
              <a:rPr sz="1350" b="1">
                <a:solidFill>
                  <a:srgbClr val="555555"/>
                </a:solidFill>
              </a:rPr>
              <a:t>Traffic signal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A9DE1C-DF2D-4603-A5BA-A686A6C17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52750"/>
            <a:ext cx="1952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7A7F87"/>
                </a:solidFill>
              </a:defRPr>
            </a:pPr>
            <a:r>
              <a:rPr sz="975" b="0">
                <a:solidFill>
                  <a:srgbClr val="7A7F87"/>
                </a:solidFill>
              </a:rPr>
              <a:t>Page opened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DE37070-5354-46EB-BDCF-FAC55BCAD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000250"/>
            <a:ext cx="23812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BDAE42D-8B37-45B0-B627-7C72B5C83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2171700"/>
            <a:ext cx="1619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00000"/>
                </a:solidFill>
              </a:defRPr>
            </a:pPr>
            <a:r>
              <a:rPr sz="3150" b="1">
                <a:solidFill>
                  <a:srgbClr val="000000"/>
                </a:solidFill>
              </a:rPr>
              <a:t>Leads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EC959EC-9C9E-47FB-A1C9-F4047BCC0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270510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55555"/>
                </a:solidFill>
              </a:defRPr>
            </a:pPr>
            <a:r>
              <a:rPr sz="1350" b="1">
                <a:solidFill>
                  <a:srgbClr val="555555"/>
                </a:solidFill>
              </a:rPr>
              <a:t>Conversion signal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C3E1FD6-37E8-4F71-9C53-A5D43E221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2952750"/>
            <a:ext cx="1952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7A7F87"/>
                </a:solidFill>
              </a:defRPr>
            </a:pPr>
            <a:r>
              <a:rPr sz="975" b="0">
                <a:solidFill>
                  <a:srgbClr val="7A7F87"/>
                </a:solidFill>
              </a:rPr>
              <a:t>Form submitted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F1A250E-0A73-4BFE-8963-5F8FF2A09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000250"/>
            <a:ext cx="23812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596E888-DB8A-469F-9B47-65211C84C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171700"/>
            <a:ext cx="1619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00000"/>
                </a:solidFill>
              </a:defRPr>
            </a:pPr>
            <a:r>
              <a:rPr sz="3150" b="1">
                <a:solidFill>
                  <a:srgbClr val="000000"/>
                </a:solidFill>
              </a:rPr>
              <a:t>Rate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C975604-A718-4020-B23E-D3DE59B7B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70510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55555"/>
                </a:solidFill>
              </a:defRPr>
            </a:pPr>
            <a:r>
              <a:rPr sz="1350" b="1">
                <a:solidFill>
                  <a:srgbClr val="555555"/>
                </a:solidFill>
              </a:rPr>
              <a:t>Performance signal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2D0A399-6F37-4B18-8684-16BD3851F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952750"/>
            <a:ext cx="1952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7A7F87"/>
                </a:solidFill>
              </a:defRPr>
            </a:pPr>
            <a:r>
              <a:rPr sz="975" b="0">
                <a:solidFill>
                  <a:srgbClr val="7A7F87"/>
                </a:solidFill>
              </a:rPr>
              <a:t>Leads / visits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BED8AE3-CDAA-4D0D-B781-588B36198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2000250"/>
            <a:ext cx="23812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600B3BC-2DC4-47F5-AB56-0338B15FE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1175" y="2171700"/>
            <a:ext cx="1619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00000"/>
                </a:solidFill>
              </a:defRPr>
            </a:pPr>
            <a:r>
              <a:rPr sz="3150" b="1">
                <a:solidFill>
                  <a:srgbClr val="000000"/>
                </a:solidFill>
              </a:rPr>
              <a:t>Audit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593F4C5-18FD-4ABF-97C7-54282E6F7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1175" y="270510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55555"/>
                </a:solidFill>
              </a:defRPr>
            </a:pPr>
            <a:r>
              <a:rPr sz="1350" b="1">
                <a:solidFill>
                  <a:srgbClr val="555555"/>
                </a:solidFill>
              </a:rPr>
              <a:t>Governance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4E5DB7E-E57C-41F3-AAAE-C304EC6E2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1175" y="2952750"/>
            <a:ext cx="1952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7A7F87"/>
                </a:solidFill>
              </a:defRPr>
            </a:pPr>
            <a:r>
              <a:rPr sz="975" b="0">
                <a:solidFill>
                  <a:srgbClr val="7A7F87"/>
                </a:solidFill>
              </a:rPr>
              <a:t>Run recorded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6968B3D-C81B-48B7-8B91-301A3D25B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90525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Current logic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507F3AB-27C1-4508-84B3-6F593F415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4196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5A80227-A518-446E-AEC1-6ED525DFD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343400"/>
            <a:ext cx="10401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00000"/>
                </a:solidFill>
              </a:defRPr>
            </a:pPr>
            <a:r>
              <a:rPr sz="1650" b="0">
                <a:solidFill>
                  <a:srgbClr val="000000"/>
                </a:solidFill>
              </a:rPr>
              <a:t>If visits are below 25, the page needs more qualified traffic before copy changes.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0DC3F86-F968-4ED1-BD37-E4A604FE4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9149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6C9E9EC-823E-47CC-8080-1377C322E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838700"/>
            <a:ext cx="10401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00000"/>
                </a:solidFill>
              </a:defRPr>
            </a:pPr>
            <a:r>
              <a:rPr sz="1650" b="0">
                <a:solidFill>
                  <a:srgbClr val="000000"/>
                </a:solidFill>
              </a:rPr>
              <a:t>If visits are enough but conversion is below 3%, rewrite the hero and CTA.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B5593F0-717A-46FC-86BE-0FB19DCBB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4102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573F647-25AA-4E11-BA7B-EB81FC318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334000"/>
            <a:ext cx="10401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00000"/>
                </a:solidFill>
              </a:defRPr>
            </a:pPr>
            <a:r>
              <a:rPr sz="1650" b="0">
                <a:solidFill>
                  <a:srgbClr val="000000"/>
                </a:solidFill>
              </a:rPr>
              <a:t>If conversion is strong, create variants for related segments, keywords, or regions.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8DCA900-01E0-4557-B00F-F83761FDB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436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16679131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2ADEF02-329A-4CAE-A43E-E77031846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552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Marketing Agent / SEO Analytics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303588-E600-4570-9C75-D191BDB86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42950"/>
            <a:ext cx="9525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00000"/>
                </a:solidFill>
              </a:defRPr>
            </a:pPr>
            <a:r>
              <a:rPr sz="3150" b="1">
                <a:solidFill>
                  <a:srgbClr val="000000"/>
                </a:solidFill>
              </a:rPr>
              <a:t>Decision matrix for recommendations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689759-5C0B-403A-8D3E-EAC2CB151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6685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43EA1D-6C93-4B6F-9F0C-72CE498FF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108204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95ABD4-64F4-482C-99FB-F88DAF425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108204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18401E-5FEF-451E-9B41-0D8B9FD9C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1952625"/>
            <a:ext cx="14288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4581E3-A29F-4412-8A18-D059DE62F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9425" y="1952625"/>
            <a:ext cx="14288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897F88-B0A9-4123-B930-CC2415302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09825"/>
            <a:ext cx="108204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B055F0A-0944-40B4-A55B-26E221C94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829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A724FCA-C666-4B50-B84C-7313D1E1E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560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CDD1709-CE2F-4A55-B18E-CAAAE4401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29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29D72E0-A579-4B1E-BC39-82F1A4D78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76450"/>
            <a:ext cx="23526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55555"/>
                </a:solidFill>
              </a:defRPr>
            </a:pPr>
            <a:r>
              <a:rPr sz="1200" b="1">
                <a:solidFill>
                  <a:srgbClr val="555555"/>
                </a:solidFill>
              </a:rPr>
              <a:t>Signal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ADC5714-2CFC-49FC-8245-FB1FB7B30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2076450"/>
            <a:ext cx="3257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55555"/>
                </a:solidFill>
              </a:defRPr>
            </a:pPr>
            <a:r>
              <a:rPr sz="1200" b="1">
                <a:solidFill>
                  <a:srgbClr val="555555"/>
                </a:solidFill>
              </a:rPr>
              <a:t>Diagnosis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B90601E-FF4A-4845-8808-33EF0575B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2076450"/>
            <a:ext cx="44100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55555"/>
                </a:solidFill>
              </a:defRPr>
            </a:pPr>
            <a:r>
              <a:rPr sz="1200" b="1">
                <a:solidFill>
                  <a:srgbClr val="555555"/>
                </a:solidFill>
              </a:rPr>
              <a:t>Recommended action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8AFFD08-B55F-4CD7-9787-45E50653C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524125"/>
            <a:ext cx="2352675" cy="53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00000"/>
                </a:solidFill>
              </a:defRPr>
            </a:pPr>
            <a:r>
              <a:rPr sz="1125" b="0">
                <a:solidFill>
                  <a:srgbClr val="000000"/>
                </a:solidFill>
              </a:rPr>
              <a:t>Visits &lt; 25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FF621D4-AF47-452E-87E8-1500E1478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2524125"/>
            <a:ext cx="3257550" cy="53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00000"/>
                </a:solidFill>
              </a:defRPr>
            </a:pPr>
            <a:r>
              <a:rPr sz="1125" b="0">
                <a:solidFill>
                  <a:srgbClr val="000000"/>
                </a:solidFill>
              </a:rPr>
              <a:t>Not enough data yet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4D06D9F-BD8A-49B5-90E8-84C85D291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2524125"/>
            <a:ext cx="4410075" cy="53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00000"/>
                </a:solidFill>
              </a:defRPr>
            </a:pPr>
            <a:r>
              <a:rPr sz="1125" b="0">
                <a:solidFill>
                  <a:srgbClr val="000000"/>
                </a:solidFill>
              </a:rPr>
              <a:t>Send more qualified traffic before making major changes.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AB12A85-8D4F-4936-B74A-648B8A02F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97225"/>
            <a:ext cx="2352675" cy="53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00000"/>
                </a:solidFill>
              </a:defRPr>
            </a:pPr>
            <a:r>
              <a:rPr sz="1125" b="0">
                <a:solidFill>
                  <a:srgbClr val="000000"/>
                </a:solidFill>
              </a:rPr>
              <a:t>Visits &gt;= 25 and conversion &lt; 3%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312E7C3-7A67-4589-A078-CB657272B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3197225"/>
            <a:ext cx="3257550" cy="53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00000"/>
                </a:solidFill>
              </a:defRPr>
            </a:pPr>
            <a:r>
              <a:rPr sz="1125" b="0">
                <a:solidFill>
                  <a:srgbClr val="000000"/>
                </a:solidFill>
              </a:rPr>
              <a:t>Page gets traffic but does not persuade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AE4C88F-FB44-4605-8D09-608BE52B7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3197225"/>
            <a:ext cx="4410075" cy="53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00000"/>
                </a:solidFill>
              </a:defRPr>
            </a:pPr>
            <a:r>
              <a:rPr sz="1125" b="0">
                <a:solidFill>
                  <a:srgbClr val="000000"/>
                </a:solidFill>
              </a:rPr>
              <a:t>Rewrite hero, CTA, proof points, and offer clarity.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FEF5DDA-1D3C-4165-9856-1B136E5CB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70325"/>
            <a:ext cx="2352675" cy="53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00000"/>
                </a:solidFill>
              </a:defRPr>
            </a:pPr>
            <a:r>
              <a:rPr sz="1125" b="0">
                <a:solidFill>
                  <a:srgbClr val="000000"/>
                </a:solidFill>
              </a:rPr>
              <a:t>Visits &gt;= 25 and conversion &gt;= 3%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90AD06C-050D-4150-AF70-C4CE0AE56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3870325"/>
            <a:ext cx="3257550" cy="53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00000"/>
                </a:solidFill>
              </a:defRPr>
            </a:pPr>
            <a:r>
              <a:rPr sz="1125" b="0">
                <a:solidFill>
                  <a:srgbClr val="000000"/>
                </a:solidFill>
              </a:rPr>
              <a:t>Page is working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2EA23A4-2975-454B-B332-AD286DFBC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3870325"/>
            <a:ext cx="4410075" cy="53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00000"/>
                </a:solidFill>
              </a:defRPr>
            </a:pPr>
            <a:r>
              <a:rPr sz="1125" b="0">
                <a:solidFill>
                  <a:srgbClr val="000000"/>
                </a:solidFill>
              </a:rPr>
              <a:t>Scale into variants by keyword, audience, geography, or offer.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B5F11C8-E9C8-4DC4-B13A-507B52536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05375"/>
            <a:ext cx="108204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E25358D-B0CE-48C3-B691-076783BF1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105400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0000"/>
                </a:solidFill>
              </a:defRPr>
            </a:pPr>
            <a:r>
              <a:rPr sz="1500" b="1">
                <a:solidFill>
                  <a:srgbClr val="000000"/>
                </a:solidFill>
              </a:rPr>
              <a:t>Client explanation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2A2262C-86B8-4508-9CA0-8F2FA28B5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095875"/>
            <a:ext cx="7620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</a:defRPr>
            </a:pPr>
            <a:r>
              <a:rPr sz="1650" b="0">
                <a:solidFill>
                  <a:srgbClr val="555555"/>
                </a:solidFill>
              </a:rPr>
              <a:t>The agent avoids premature optimization. It waits for enough signal, improves weak pages, and scales pages that already prove demand.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0CC6C8F-1DD5-4EFB-B799-3EB4D4D1D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436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52588052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07F35BC-B068-4FD4-BC6A-867A9640B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552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Marketing Agent / SEO Analytics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9FC54F-0FEC-4704-BCD1-E6C59316E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42950"/>
            <a:ext cx="9525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00000"/>
                </a:solidFill>
              </a:defRPr>
            </a:pPr>
            <a:r>
              <a:rPr sz="3150" b="1">
                <a:solidFill>
                  <a:srgbClr val="000000"/>
                </a:solidFill>
              </a:rPr>
              <a:t>Client story: from page launch to refresh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604469-DF73-4865-953A-2AE83BE32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6685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0E78CB-6CF4-4C5F-9FB7-121B486A5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43100"/>
            <a:ext cx="33337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108CA0-9D4B-413A-8D4C-591CF0D6F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20980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0000"/>
                </a:solidFill>
              </a:defRPr>
            </a:pPr>
            <a:r>
              <a:rPr sz="1500" b="1">
                <a:solidFill>
                  <a:srgbClr val="000000"/>
                </a:solidFill>
              </a:rPr>
              <a:t>Scenario 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5C3165-EAD5-406D-897B-9601A067D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24150"/>
            <a:ext cx="27813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00000"/>
                </a:solidFill>
              </a:defRPr>
            </a:pPr>
            <a:r>
              <a:rPr sz="2325" b="1">
                <a:solidFill>
                  <a:srgbClr val="000000"/>
                </a:solidFill>
              </a:rPr>
              <a:t>100 visits</a:t>
            </a:r>
          </a:p>
          <a:p xmlns:a="http://schemas.openxmlformats.org/drawingml/2006/main">
            <a:pPr algn="l">
              <a:defRPr sz="2325" b="1">
                <a:solidFill>
                  <a:srgbClr val="000000"/>
                </a:solidFill>
              </a:defRPr>
            </a:pPr>
            <a:r>
              <a:rPr sz="2325" b="1">
                <a:solidFill>
                  <a:srgbClr val="000000"/>
                </a:solidFill>
              </a:rPr>
              <a:t>2 leads</a:t>
            </a:r>
          </a:p>
          <a:p xmlns:a="http://schemas.openxmlformats.org/drawingml/2006/main">
            <a:pPr algn="l">
              <a:defRPr sz="2325" b="1">
                <a:solidFill>
                  <a:srgbClr val="000000"/>
                </a:solidFill>
              </a:defRPr>
            </a:pPr>
            <a:r>
              <a:rPr sz="2325" b="1">
                <a:solidFill>
                  <a:srgbClr val="000000"/>
                </a:solidFill>
              </a:rPr>
              <a:t>2% conversion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8B4E22-B030-4DD9-B076-E23D4CDF1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210050"/>
            <a:ext cx="266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Action: rewrite hero and CTA around a sharper buyer pain.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37D07A-2B2B-48E0-8C58-CACF5B95F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943100"/>
            <a:ext cx="33337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A1DCA0B-C9B7-4C66-A632-E5778B0E6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20980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0000"/>
                </a:solidFill>
              </a:defRPr>
            </a:pPr>
            <a:r>
              <a:rPr sz="1500" b="1">
                <a:solidFill>
                  <a:srgbClr val="000000"/>
                </a:solidFill>
              </a:rPr>
              <a:t>Scenario B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756353F-078F-47CD-BB86-69FC8F21D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724150"/>
            <a:ext cx="27813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00000"/>
                </a:solidFill>
              </a:defRPr>
            </a:pPr>
            <a:r>
              <a:rPr sz="2325" b="1">
                <a:solidFill>
                  <a:srgbClr val="000000"/>
                </a:solidFill>
              </a:rPr>
              <a:t>10 visits</a:t>
            </a:r>
          </a:p>
          <a:p xmlns:a="http://schemas.openxmlformats.org/drawingml/2006/main">
            <a:pPr algn="l">
              <a:defRPr sz="2325" b="1">
                <a:solidFill>
                  <a:srgbClr val="000000"/>
                </a:solidFill>
              </a:defRPr>
            </a:pPr>
            <a:r>
              <a:rPr sz="2325" b="1">
                <a:solidFill>
                  <a:srgbClr val="000000"/>
                </a:solidFill>
              </a:rPr>
              <a:t>1 lead</a:t>
            </a:r>
          </a:p>
          <a:p xmlns:a="http://schemas.openxmlformats.org/drawingml/2006/main">
            <a:pPr algn="l">
              <a:defRPr sz="2325" b="1">
                <a:solidFill>
                  <a:srgbClr val="000000"/>
                </a:solidFill>
              </a:defRPr>
            </a:pPr>
            <a:r>
              <a:rPr sz="2325" b="1">
                <a:solidFill>
                  <a:srgbClr val="000000"/>
                </a:solidFill>
              </a:rPr>
              <a:t>10% conversion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829EED0-1503-4CE1-915E-16E7CEF0C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4210050"/>
            <a:ext cx="266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Action: wait and send more qualified traffic before judging the copy.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8A1C00E-7B20-4F47-AA8D-5AFE38487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943100"/>
            <a:ext cx="33337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7CF774B-5A46-45B1-BEC5-F6C2B74D2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20980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0000"/>
                </a:solidFill>
              </a:defRPr>
            </a:pPr>
            <a:r>
              <a:rPr sz="1500" b="1">
                <a:solidFill>
                  <a:srgbClr val="000000"/>
                </a:solidFill>
              </a:rPr>
              <a:t>Scenario C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C4FE1C5-25F1-4CAD-AB22-754E6EA5E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724150"/>
            <a:ext cx="27813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00000"/>
                </a:solidFill>
              </a:defRPr>
            </a:pPr>
            <a:r>
              <a:rPr sz="2325" b="1">
                <a:solidFill>
                  <a:srgbClr val="000000"/>
                </a:solidFill>
              </a:rPr>
              <a:t>200 visits</a:t>
            </a:r>
          </a:p>
          <a:p xmlns:a="http://schemas.openxmlformats.org/drawingml/2006/main">
            <a:pPr algn="l">
              <a:defRPr sz="2325" b="1">
                <a:solidFill>
                  <a:srgbClr val="000000"/>
                </a:solidFill>
              </a:defRPr>
            </a:pPr>
            <a:r>
              <a:rPr sz="2325" b="1">
                <a:solidFill>
                  <a:srgbClr val="000000"/>
                </a:solidFill>
              </a:rPr>
              <a:t>14 leads</a:t>
            </a:r>
          </a:p>
          <a:p xmlns:a="http://schemas.openxmlformats.org/drawingml/2006/main">
            <a:pPr algn="l">
              <a:defRPr sz="2325" b="1">
                <a:solidFill>
                  <a:srgbClr val="000000"/>
                </a:solidFill>
              </a:defRPr>
            </a:pPr>
            <a:r>
              <a:rPr sz="2325" b="1">
                <a:solidFill>
                  <a:srgbClr val="000000"/>
                </a:solidFill>
              </a:rPr>
              <a:t>7% conversion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50FCB28-C596-41B1-B775-C27569427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4210050"/>
            <a:ext cx="266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Action: create similar pages for related buyer segments.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14C2C1F-DB01-40DF-B77A-B6C80E01E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436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3282335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8CA7B0C-B9FA-41CF-8937-8ED79DFF5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552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Marketing Agent / SEO Analytics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9A8926-64B9-48E4-9C10-1FE72B9BB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42950"/>
            <a:ext cx="9525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00000"/>
                </a:solidFill>
              </a:defRPr>
            </a:pPr>
            <a:r>
              <a:rPr sz="3150" b="1">
                <a:solidFill>
                  <a:srgbClr val="000000"/>
                </a:solidFill>
              </a:rPr>
              <a:t>Current capability vs production SEO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7E17E7-E2F3-48FC-B12E-FF09E56D3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6685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9549D3-2F38-49FC-986D-3B999F923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52625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0000"/>
                </a:solidFill>
              </a:defRPr>
            </a:pPr>
            <a:r>
              <a:rPr sz="2100" b="1">
                <a:solidFill>
                  <a:srgbClr val="000000"/>
                </a:solidFill>
              </a:rPr>
              <a:t>Current system measures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57464B-7C40-4B8C-9829-8D5A4EC89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527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A8F6FF-4514-49F2-9FF2-DA3334224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476500"/>
            <a:ext cx="41148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00000"/>
                </a:solidFill>
              </a:defRPr>
            </a:pPr>
            <a:r>
              <a:rPr sz="1575" b="0">
                <a:solidFill>
                  <a:srgbClr val="000000"/>
                </a:solidFill>
              </a:rPr>
              <a:t>Generated SEO landing pages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4F56FD-49E4-44FA-B54B-A13501D9B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813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00F0122-8E79-4317-B2C1-B51918B98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905125"/>
            <a:ext cx="41148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00000"/>
                </a:solidFill>
              </a:defRPr>
            </a:pPr>
            <a:r>
              <a:rPr sz="1575" b="0">
                <a:solidFill>
                  <a:srgbClr val="000000"/>
                </a:solidFill>
              </a:rPr>
              <a:t>Page visits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3C8B7B-D994-4866-9B73-F970D5E2B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099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4CECD39-F9C0-4675-ACCC-AFB9FA24C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333750"/>
            <a:ext cx="41148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00000"/>
                </a:solidFill>
              </a:defRPr>
            </a:pPr>
            <a:r>
              <a:rPr sz="1575" b="0">
                <a:solidFill>
                  <a:srgbClr val="000000"/>
                </a:solidFill>
              </a:rPr>
              <a:t>Lead submissions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147920A-977E-4D96-B3DD-61DB7D209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385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8233332-1B1F-4ABC-AC92-79C4A1327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762375"/>
            <a:ext cx="41148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00000"/>
                </a:solidFill>
              </a:defRPr>
            </a:pPr>
            <a:r>
              <a:rPr sz="1575" b="0">
                <a:solidFill>
                  <a:srgbClr val="000000"/>
                </a:solidFill>
              </a:rPr>
              <a:t>Conversion rate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61DC02A-2913-4405-B067-409A9330F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672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B04660E-1280-4835-9407-1B4BF0F06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191000"/>
            <a:ext cx="41148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00000"/>
                </a:solidFill>
              </a:defRPr>
            </a:pPr>
            <a:r>
              <a:rPr sz="1575" b="0">
                <a:solidFill>
                  <a:srgbClr val="000000"/>
                </a:solidFill>
              </a:rPr>
              <a:t>Refresh recommendations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22E40BF-20EE-4268-872C-DBA5B22FB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958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D887BBE-203F-4FF6-8E90-93281F6F5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619625"/>
            <a:ext cx="41148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00000"/>
                </a:solidFill>
              </a:defRPr>
            </a:pPr>
            <a:r>
              <a:rPr sz="1575" b="0">
                <a:solidFill>
                  <a:srgbClr val="000000"/>
                </a:solidFill>
              </a:rPr>
              <a:t>Audit trail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D2AE016-2589-4A8D-96A0-D372E32D8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952625"/>
            <a:ext cx="438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0000"/>
                </a:solidFill>
              </a:defRPr>
            </a:pPr>
            <a:r>
              <a:rPr sz="2100" b="1">
                <a:solidFill>
                  <a:srgbClr val="000000"/>
                </a:solidFill>
              </a:rPr>
              <a:t>Production SEO should add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1C8B83C-6080-4CB1-B9CE-FD914661D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5527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42647AA-4B67-47BF-9C0D-B141D78DC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476500"/>
            <a:ext cx="43053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00000"/>
                </a:solidFill>
              </a:defRPr>
            </a:pPr>
            <a:r>
              <a:rPr sz="1575" b="0">
                <a:solidFill>
                  <a:srgbClr val="000000"/>
                </a:solidFill>
              </a:rPr>
              <a:t>Google impressions and clicks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7C80A89-9B8C-4716-9536-ACF8E7981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9813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D530DE1-8859-4E10-AB8F-8C1EF242E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905125"/>
            <a:ext cx="43053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00000"/>
                </a:solidFill>
              </a:defRPr>
            </a:pPr>
            <a:r>
              <a:rPr sz="1575" b="0">
                <a:solidFill>
                  <a:srgbClr val="000000"/>
                </a:solidFill>
              </a:rPr>
              <a:t>Search CTR and average position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B965843-E189-4B83-AAE2-3C21E7933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4099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9B359F8-32F6-4CC2-8238-D334CE2C7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333750"/>
            <a:ext cx="43053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00000"/>
                </a:solidFill>
              </a:defRPr>
            </a:pPr>
            <a:r>
              <a:rPr sz="1575" b="0">
                <a:solidFill>
                  <a:srgbClr val="000000"/>
                </a:solidFill>
              </a:rPr>
              <a:t>Query, country, and device data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B558D58-4F69-4793-B364-38D802A39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8385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F8BCC5F-8A8B-4FBC-9179-90F4DCB1A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762375"/>
            <a:ext cx="43053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00000"/>
                </a:solidFill>
              </a:defRPr>
            </a:pPr>
            <a:r>
              <a:rPr sz="1575" b="0">
                <a:solidFill>
                  <a:srgbClr val="000000"/>
                </a:solidFill>
              </a:rPr>
              <a:t>GA4 sessions and engagement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4668141-F60F-4FFB-861E-EC839373E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2672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FD3AA8C-C99C-4A37-A8C5-6D1C9FA3D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4191000"/>
            <a:ext cx="43053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00000"/>
                </a:solidFill>
              </a:defRPr>
            </a:pPr>
            <a:r>
              <a:rPr sz="1575" b="0">
                <a:solidFill>
                  <a:srgbClr val="000000"/>
                </a:solidFill>
              </a:rPr>
              <a:t>Sitemap and indexing status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3DFA042-8742-474B-9B1C-963BEB311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6958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F2FB4DB-7F03-4F02-9AEB-352A81105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4619625"/>
            <a:ext cx="43053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00000"/>
                </a:solidFill>
              </a:defRPr>
            </a:pPr>
            <a:r>
              <a:rPr sz="1575" b="0">
                <a:solidFill>
                  <a:srgbClr val="000000"/>
                </a:solidFill>
              </a:rPr>
              <a:t>Before/after uplift tracking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EA48260-CC8C-4DC0-95BB-2AD03E021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952625"/>
            <a:ext cx="14288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F0CDFBB-494B-4707-90BD-C76F3AC77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436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73694476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8259858-F32D-4494-9B10-10B4B2754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552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Marketing Agent / SEO Analytics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155373-A53C-4049-B169-9D37EE509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42950"/>
            <a:ext cx="9525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00000"/>
                </a:solidFill>
              </a:defRPr>
            </a:pPr>
            <a:r>
              <a:rPr sz="3150" b="1">
                <a:solidFill>
                  <a:srgbClr val="000000"/>
                </a:solidFill>
              </a:rPr>
              <a:t>Production SEO architecture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663EDA-3CF3-472E-9AB6-774D9D2E8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6685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ECC604-B1DE-4843-AEF5-ECA688C3D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962150"/>
            <a:ext cx="2095500" cy="2809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5E4E34-A579-478D-83F6-BA75992D3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3360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55555"/>
                </a:solidFill>
              </a:defRPr>
            </a:pPr>
            <a:r>
              <a:rPr sz="1350" b="1">
                <a:solidFill>
                  <a:srgbClr val="555555"/>
                </a:solidFill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5DB76D-BEA2-4A6B-B525-93764BBDD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14600"/>
            <a:ext cx="1752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0000"/>
                </a:solidFill>
              </a:defRPr>
            </a:pPr>
            <a:r>
              <a:rPr sz="1725" b="1">
                <a:solidFill>
                  <a:srgbClr val="000000"/>
                </a:solidFill>
              </a:rPr>
              <a:t>Landing pages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ABDDC2-3B4A-4B0A-94E4-FE1CFCE32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0"/>
            <a:ext cx="1752600" cy="1514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Generated pages expose canonical URLs, metadata, forms, and analytics events.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3F1D79-7097-442B-B1DB-A3B365BF3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3367088"/>
            <a:ext cx="171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C65028F-A9FD-4268-AFE4-80836A22E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1962150"/>
            <a:ext cx="2095500" cy="2809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B04EBB1-A8F9-4B41-8D33-2062D975D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13360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55555"/>
                </a:solidFill>
              </a:defRPr>
            </a:pPr>
            <a:r>
              <a:rPr sz="1350" b="1">
                <a:solidFill>
                  <a:srgbClr val="555555"/>
                </a:solidFill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98F75AC-3BA8-4832-B7F8-DE2E44276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514600"/>
            <a:ext cx="1752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0000"/>
                </a:solidFill>
              </a:defRPr>
            </a:pPr>
            <a:r>
              <a:rPr sz="1725" b="1">
                <a:solidFill>
                  <a:srgbClr val="000000"/>
                </a:solidFill>
              </a:rPr>
              <a:t>Search + behavior data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0350F98-FF85-4A36-A76A-028FE1EDE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143250"/>
            <a:ext cx="1752600" cy="1514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Search Console and GA4 collect discovery, click, and engagement signals.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F81F540-8882-4198-89A5-AE9E578FF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3367088"/>
            <a:ext cx="171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592FD89-E619-46F1-A2A0-06EF44B64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962150"/>
            <a:ext cx="2095500" cy="2809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B78FB73-6AB6-45F7-BED6-6325FFE4F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13360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55555"/>
                </a:solidFill>
              </a:defRPr>
            </a:pPr>
            <a:r>
              <a:rPr sz="1350" b="1">
                <a:solidFill>
                  <a:srgbClr val="555555"/>
                </a:solidFill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0ABF31C-B8B7-47C0-8FE8-1C9BE44C7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514600"/>
            <a:ext cx="1752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0000"/>
                </a:solidFill>
              </a:defRPr>
            </a:pPr>
            <a:r>
              <a:rPr sz="1725" b="1">
                <a:solidFill>
                  <a:srgbClr val="000000"/>
                </a:solidFill>
              </a:rPr>
              <a:t>Metric collector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F0FBB77-0C74-49F1-BB8D-C69E12860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143250"/>
            <a:ext cx="1752600" cy="1514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Scheduled jobs store daily page/query metrics in PostgreSQL.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70AD6C5-9A0D-4307-A4A3-078C36923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367088"/>
            <a:ext cx="171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9D503AE-409A-45F9-9679-4682753E2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1962150"/>
            <a:ext cx="2095500" cy="2809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BFAAF83-06DC-46E7-B2C3-C0A50A3BB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13360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55555"/>
                </a:solidFill>
              </a:defRPr>
            </a:pPr>
            <a:r>
              <a:rPr sz="1350" b="1">
                <a:solidFill>
                  <a:srgbClr val="555555"/>
                </a:solidFill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1297E83-6C18-4640-B2DA-971726B95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514600"/>
            <a:ext cx="1752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0000"/>
                </a:solidFill>
              </a:defRPr>
            </a:pPr>
            <a:r>
              <a:rPr sz="1725" b="1">
                <a:solidFill>
                  <a:srgbClr val="000000"/>
                </a:solidFill>
              </a:rPr>
              <a:t>Refresh agent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8C3075B-83E7-4B6D-B7CD-16BD0D1E5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3143250"/>
            <a:ext cx="1752600" cy="1514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The agent scores pages and creates prioritized recommendations.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8F85A6D-52FA-4465-B341-006AA6685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3367088"/>
            <a:ext cx="171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BCB48DE-5031-49F5-AA97-87F4EBC70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1962150"/>
            <a:ext cx="2095500" cy="2809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AF74BE7-391C-4B5B-8803-C34824AB8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213360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55555"/>
                </a:solidFill>
              </a:defRPr>
            </a:pPr>
            <a:r>
              <a:rPr sz="1350" b="1">
                <a:solidFill>
                  <a:srgbClr val="555555"/>
                </a:solidFill>
              </a:rPr>
              <a:t>05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AF53B4B-6504-472F-847D-CEFCBA6B2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2514600"/>
            <a:ext cx="1752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0000"/>
                </a:solidFill>
              </a:defRPr>
            </a:pPr>
            <a:r>
              <a:rPr sz="1725" b="1">
                <a:solidFill>
                  <a:srgbClr val="000000"/>
                </a:solidFill>
              </a:rPr>
              <a:t>Dashboard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3B9E87A-80EA-46AB-A8AA-CD7D41C4D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3143250"/>
            <a:ext cx="1752600" cy="1514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Clients see what to improve, scale, or monitor next.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4E57DA8-7B13-482F-98CB-B56B9D6EF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33400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0000"/>
                </a:solidFill>
              </a:defRPr>
            </a:pPr>
            <a:r>
              <a:rPr sz="1500" b="1">
                <a:solidFill>
                  <a:srgbClr val="000000"/>
                </a:solidFill>
              </a:rPr>
              <a:t>Key shift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BA1B93E-CDA3-403C-BF90-1E5DBBE19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314950"/>
            <a:ext cx="838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</a:defRPr>
            </a:pPr>
            <a:r>
              <a:rPr sz="1650" b="0">
                <a:solidFill>
                  <a:srgbClr val="555555"/>
                </a:solidFill>
              </a:rPr>
              <a:t>The production version moves from app-only analytics to full search visibility plus conversion intelligence.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3784999-F192-44EB-BAA2-F4E672BBD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436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99934544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876BF2D-E140-4983-9D44-50B87AB51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552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Marketing Agent / SEO Analytics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A7296A-E6D2-48B1-8937-A011439D4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42950"/>
            <a:ext cx="9525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00000"/>
                </a:solidFill>
              </a:defRPr>
            </a:pPr>
            <a:r>
              <a:rPr sz="3150" b="1">
                <a:solidFill>
                  <a:srgbClr val="000000"/>
                </a:solidFill>
              </a:rPr>
              <a:t>Recommended production integrations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BE8BA6-5DC9-4E87-871A-B85842EB3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6685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4F74DE-C207-4FFD-A994-DA4D79A57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857375"/>
            <a:ext cx="11163300" cy="3105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925492-4E69-4C7F-8AF0-B97B0D526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857375"/>
            <a:ext cx="111633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9917EB-09DC-4F39-BD9C-55677E38A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975" y="1857375"/>
            <a:ext cx="14288" cy="3105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32E610-3B32-420D-8105-66A2185FA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9475" y="1857375"/>
            <a:ext cx="14288" cy="3105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45D785-E980-4167-B504-62289A879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14575"/>
            <a:ext cx="111633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D71F0BD-1FF3-462D-8E48-743CBC2CA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976563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F9436DF-1F1E-4885-886D-FD930D48D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3855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4A7B050-1699-42E6-A3AA-BC4FB1ACD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300538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3A2E51F-CAFC-45C2-B817-3B90E1D0B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962525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997483E-E5A0-4FDE-9896-1DBCFC4B8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81200"/>
            <a:ext cx="20669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55555"/>
                </a:solidFill>
              </a:defRPr>
            </a:pPr>
            <a:r>
              <a:rPr sz="1200" b="1">
                <a:solidFill>
                  <a:srgbClr val="555555"/>
                </a:solidFill>
              </a:rPr>
              <a:t>Integration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FE4366C-24D6-4E56-9C2E-3DEFC5EC2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325" y="1981200"/>
            <a:ext cx="4114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55555"/>
                </a:solidFill>
              </a:defRPr>
            </a:pPr>
            <a:r>
              <a:rPr sz="1200" b="1">
                <a:solidFill>
                  <a:srgbClr val="555555"/>
                </a:solidFill>
              </a:rPr>
              <a:t>Data captured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EF30D51-F8B2-4314-95D0-3AF21AFBE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1981200"/>
            <a:ext cx="41814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55555"/>
                </a:solidFill>
              </a:defRPr>
            </a:pPr>
            <a:r>
              <a:rPr sz="1200" b="1">
                <a:solidFill>
                  <a:srgbClr val="555555"/>
                </a:solidFill>
              </a:rPr>
              <a:t>How it improves recommendations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F63A117-9E17-4830-B473-3622F3178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428875"/>
            <a:ext cx="2066925" cy="5286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00000"/>
                </a:solidFill>
              </a:defRPr>
            </a:pPr>
            <a:r>
              <a:rPr sz="1125" b="0">
                <a:solidFill>
                  <a:srgbClr val="000000"/>
                </a:solidFill>
              </a:rPr>
              <a:t>Google Search Console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A7811A3-8DA2-4122-B32D-D2C9F327C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325" y="2428875"/>
            <a:ext cx="4114800" cy="5286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00000"/>
                </a:solidFill>
              </a:defRPr>
            </a:pPr>
            <a:r>
              <a:rPr sz="1125" b="0">
                <a:solidFill>
                  <a:srgbClr val="000000"/>
                </a:solidFill>
              </a:rPr>
              <a:t>Impressions, clicks, CTR, average position, query, country, device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2F96D04-B42A-47C1-A2B2-F64B16153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2428875"/>
            <a:ext cx="4181475" cy="5286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00000"/>
                </a:solidFill>
              </a:defRPr>
            </a:pPr>
            <a:r>
              <a:rPr sz="1125" b="0">
                <a:solidFill>
                  <a:srgbClr val="000000"/>
                </a:solidFill>
              </a:rPr>
              <a:t>Identifies discovery, ranking, and search-result click problems.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80F8DE4-3047-4694-902F-4DF0966A9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90863"/>
            <a:ext cx="2066925" cy="5286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00000"/>
                </a:solidFill>
              </a:defRPr>
            </a:pPr>
            <a:r>
              <a:rPr sz="1125" b="0">
                <a:solidFill>
                  <a:srgbClr val="000000"/>
                </a:solidFill>
              </a:rPr>
              <a:t>Google Analytics 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FD1347D-170D-49D3-AC3D-ADB6C5B53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325" y="3090863"/>
            <a:ext cx="4114800" cy="5286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00000"/>
                </a:solidFill>
              </a:defRPr>
            </a:pPr>
            <a:r>
              <a:rPr sz="1125" b="0">
                <a:solidFill>
                  <a:srgbClr val="000000"/>
                </a:solidFill>
              </a:rPr>
              <a:t>Sessions, engagement, CTA clicks, form starts, source, device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EFF913F-592D-4798-A1CE-42E6F7440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3090863"/>
            <a:ext cx="4181475" cy="5286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00000"/>
                </a:solidFill>
              </a:defRPr>
            </a:pPr>
            <a:r>
              <a:rPr sz="1125" b="0">
                <a:solidFill>
                  <a:srgbClr val="000000"/>
                </a:solidFill>
              </a:rPr>
              <a:t>Explains how users behave after landing on the page.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C314583-E860-408C-9321-3A7579B66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752850"/>
            <a:ext cx="2066925" cy="5286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00000"/>
                </a:solidFill>
              </a:defRPr>
            </a:pPr>
            <a:r>
              <a:rPr sz="1125" b="0">
                <a:solidFill>
                  <a:srgbClr val="000000"/>
                </a:solidFill>
              </a:rPr>
              <a:t>Sitemap + robots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5996F89-6C0E-4CEE-9A58-D61289E9C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325" y="3752850"/>
            <a:ext cx="4114800" cy="5286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00000"/>
                </a:solidFill>
              </a:defRPr>
            </a:pPr>
            <a:r>
              <a:rPr sz="1125" b="0">
                <a:solidFill>
                  <a:srgbClr val="000000"/>
                </a:solidFill>
              </a:rPr>
              <a:t>Published URLs, crawl guidance, sitemap submission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B5EE51C-6521-437D-8265-46A06A49B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3752850"/>
            <a:ext cx="4181475" cy="5286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00000"/>
                </a:solidFill>
              </a:defRPr>
            </a:pPr>
            <a:r>
              <a:rPr sz="1125" b="0">
                <a:solidFill>
                  <a:srgbClr val="000000"/>
                </a:solidFill>
              </a:rPr>
              <a:t>Improves discoverability and operational indexing control.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3E35AE1-3666-4C73-A049-0E5438A0F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414838"/>
            <a:ext cx="2066925" cy="5286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00000"/>
                </a:solidFill>
              </a:defRPr>
            </a:pPr>
            <a:r>
              <a:rPr sz="1125" b="0">
                <a:solidFill>
                  <a:srgbClr val="000000"/>
                </a:solidFill>
              </a:rPr>
              <a:t>Structured data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8775E08-F84C-4088-A567-001B59BCA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325" y="4414838"/>
            <a:ext cx="4114800" cy="5286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00000"/>
                </a:solidFill>
              </a:defRPr>
            </a:pPr>
            <a:r>
              <a:rPr sz="1125" b="0">
                <a:solidFill>
                  <a:srgbClr val="000000"/>
                </a:solidFill>
              </a:rPr>
              <a:t>Organization, Service, FAQ, Breadcrumb JSON-LD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FBF32B5-FCAE-42FE-B413-558A62AD3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4414838"/>
            <a:ext cx="4181475" cy="5286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00000"/>
                </a:solidFill>
              </a:defRPr>
            </a:pPr>
            <a:r>
              <a:rPr sz="1125" b="0">
                <a:solidFill>
                  <a:srgbClr val="000000"/>
                </a:solidFill>
              </a:rPr>
              <a:t>Helps search engines understand page purpose and entities.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3B8B1B0-413B-4343-92B8-E171B2FAC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72125"/>
            <a:ext cx="1000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7A7F87"/>
                </a:solidFill>
              </a:defRPr>
            </a:pPr>
            <a:r>
              <a:rPr sz="1275" b="0">
                <a:solidFill>
                  <a:srgbClr val="7A7F87"/>
                </a:solidFill>
              </a:rPr>
              <a:t>Official references: Google Search Console API, Google Analytics Data API, Google Search Central structured data documentation.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0608743-7BAF-4657-986A-033671AD7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436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08854339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5004DD7-2272-4D31-AAF8-F53CA5F09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552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Marketing Agent / SEO Analytics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7AB7D7-06C9-4DC7-BCB0-A6FF9CA1E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42950"/>
            <a:ext cx="9525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00000"/>
                </a:solidFill>
              </a:defRPr>
            </a:pPr>
            <a:r>
              <a:rPr sz="3150" b="1">
                <a:solidFill>
                  <a:srgbClr val="000000"/>
                </a:solidFill>
              </a:rPr>
              <a:t>SEO health score: a production scoring model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179181-75E3-46FF-9E39-78FEC586C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6685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5E7FA9-0359-4046-A72D-F2C7F6593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76450"/>
            <a:ext cx="476250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D102C6-B373-48EA-94DA-6358D19EB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36220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</a:defRPr>
            </a:pPr>
            <a:r>
              <a:rPr sz="1800" b="1">
                <a:solidFill>
                  <a:srgbClr val="000000"/>
                </a:solidFill>
              </a:rPr>
              <a:t>Illustrative page score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8AA0EE-DAD3-4CCC-9E36-DBF85E29A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5275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55555"/>
                </a:solidFill>
              </a:defRPr>
            </a:pPr>
            <a:r>
              <a:rPr sz="1350" b="1">
                <a:solidFill>
                  <a:srgbClr val="555555"/>
                </a:solidFill>
              </a:rPr>
              <a:t>Technical SEO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87D8A7-651E-4E19-9DA5-4D1F00251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981325"/>
            <a:ext cx="2476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FAA495-8CD7-4611-980E-B8E98C243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981325"/>
            <a:ext cx="2228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FB117ED-835F-4D4C-93AC-44179EABA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4475" y="29337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</a:rPr>
              <a:t>90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5B7222A-B836-4A66-8C23-E091C77D9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42900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55555"/>
                </a:solidFill>
              </a:defRPr>
            </a:pPr>
            <a:r>
              <a:rPr sz="1350" b="1">
                <a:solidFill>
                  <a:srgbClr val="555555"/>
                </a:solidFill>
              </a:rPr>
              <a:t>Content relevance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0FD663A-5573-43D1-9F84-0F9BABAD6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457575"/>
            <a:ext cx="2476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327ED31-2755-4C02-A166-90A57B513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457575"/>
            <a:ext cx="203073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9E2366E-A3B5-4356-92FD-4F558E303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4475" y="34099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</a:rPr>
              <a:t>82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13FC361-3438-49CF-A370-950E6683B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0525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55555"/>
                </a:solidFill>
              </a:defRPr>
            </a:pPr>
            <a:r>
              <a:rPr sz="1350" b="1">
                <a:solidFill>
                  <a:srgbClr val="555555"/>
                </a:solidFill>
              </a:rPr>
              <a:t>Search performance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050658F-918E-4356-A0B1-392EF495A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933825"/>
            <a:ext cx="2476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9079481-F899-4EEC-9B5F-01E84BD62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933825"/>
            <a:ext cx="1485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5790DE7-22BB-490D-8E3B-390C9C551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4475" y="38862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</a:rPr>
              <a:t>60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29B9F14-0DFC-435E-829F-F94B2985E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38150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55555"/>
                </a:solidFill>
              </a:defRPr>
            </a:pPr>
            <a:r>
              <a:rPr sz="1350" b="1">
                <a:solidFill>
                  <a:srgbClr val="555555"/>
                </a:solidFill>
              </a:rPr>
              <a:t>Conversion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2A940D8-30AE-45BD-A58F-70EC7D5EE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4410075"/>
            <a:ext cx="2476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4579B8F-EB3E-4DF5-AD25-4AAEFE550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4410075"/>
            <a:ext cx="86677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990C747-DD97-47C2-A6AE-477DF01F6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4475" y="43624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</a:rPr>
              <a:t>35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45EA37B-816B-49D4-B8AB-CD5789913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143125"/>
            <a:ext cx="3619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0000"/>
                </a:solidFill>
              </a:defRPr>
            </a:pPr>
            <a:r>
              <a:rPr sz="2100" b="1">
                <a:solidFill>
                  <a:srgbClr val="000000"/>
                </a:solidFill>
              </a:rPr>
              <a:t>Example page diagnosis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D59E054-627C-4BB4-B4EF-524DFEDAC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7908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76B3702-7A54-4746-9B4F-7A86668C3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2714625"/>
            <a:ext cx="4495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00000"/>
                </a:solidFill>
              </a:defRPr>
            </a:pPr>
            <a:r>
              <a:rPr sz="1575" b="0">
                <a:solidFill>
                  <a:srgbClr val="000000"/>
                </a:solidFill>
              </a:rPr>
              <a:t>Technical foundation is strong.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CBB38F6-FC7F-40AC-9430-A99B3CE8C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2480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F5D8777-43A2-417A-8036-A8C63DAE0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3171825"/>
            <a:ext cx="4495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00000"/>
                </a:solidFill>
              </a:defRPr>
            </a:pPr>
            <a:r>
              <a:rPr sz="1575" b="0">
                <a:solidFill>
                  <a:srgbClr val="000000"/>
                </a:solidFill>
              </a:rPr>
              <a:t>Content is relevant to the target buyer.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218235D-045A-489C-B55C-4B75B6439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7052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413CB7E-8799-4BCC-B4DA-7C8A16443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3629025"/>
            <a:ext cx="4495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00000"/>
                </a:solidFill>
              </a:defRPr>
            </a:pPr>
            <a:r>
              <a:rPr sz="1575" b="0">
                <a:solidFill>
                  <a:srgbClr val="000000"/>
                </a:solidFill>
              </a:rPr>
              <a:t>Search visibility is moderate.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F3B640B-841F-4B9B-8601-46FE97AA0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1624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AD76F66-0B78-4642-93D2-DA8D6FD93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4086225"/>
            <a:ext cx="4495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00000"/>
                </a:solidFill>
              </a:defRPr>
            </a:pPr>
            <a:r>
              <a:rPr sz="1575" b="0">
                <a:solidFill>
                  <a:srgbClr val="000000"/>
                </a:solidFill>
              </a:rPr>
              <a:t>Conversion performance is the bottleneck.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F3BFDC7-41C8-40B3-B695-667CE8260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905375"/>
            <a:ext cx="4762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C20C551-5734-48D6-ABE2-19A87351B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5067300"/>
            <a:ext cx="428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0000"/>
                </a:solidFill>
              </a:defRPr>
            </a:pPr>
            <a:r>
              <a:rPr sz="1500" b="1">
                <a:solidFill>
                  <a:srgbClr val="000000"/>
                </a:solidFill>
              </a:rPr>
              <a:t>Recommended action: improve offer clarity, hero copy, CTA, and proof points.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CEE55AA-1F22-4A47-88D8-88B747615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436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98053557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1BA4EE4-17BD-48C7-B178-FDA8FE6D5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552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Marketing Agent / SEO Analytics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C6D905-D0B7-4FC6-86B7-7616435EE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42950"/>
            <a:ext cx="9525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00000"/>
                </a:solidFill>
              </a:defRPr>
            </a:pPr>
            <a:r>
              <a:rPr sz="3150" b="1">
                <a:solidFill>
                  <a:srgbClr val="000000"/>
                </a:solidFill>
              </a:rPr>
              <a:t>Productionization roadmap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C50EA7-5E1D-4F29-9C44-D9382DAC7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6685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44457B-36A3-4FBF-B828-7E6CA0AF3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809750"/>
            <a:ext cx="1116330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CD49CA-3EBD-454E-9569-7CC7708FA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809750"/>
            <a:ext cx="111633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2932D0-F58D-4D75-9736-3A8AE9D1A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1809750"/>
            <a:ext cx="14288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21990A-AB2A-4668-8CA3-53F647B97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4225" y="1809750"/>
            <a:ext cx="14288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265676-A768-420C-BAE3-0250B5F81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66950"/>
            <a:ext cx="111633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C9A8B92-0016-4659-8F46-5C543D4D0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6131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F31AD9D-E6E0-4ABC-8EB5-CC3C8373A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5567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E26C869-C008-4391-BEF3-8FEFA3484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5003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1F8DC48-4A5F-46DA-B148-72A7AB2E6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64439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0473ACF-4355-469D-9390-BBF79C09C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3875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98CC2B8-F95E-4780-A735-0C1B1A048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33575"/>
            <a:ext cx="1447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55555"/>
                </a:solidFill>
              </a:defRPr>
            </a:pPr>
            <a:r>
              <a:rPr sz="1200" b="1">
                <a:solidFill>
                  <a:srgbClr val="555555"/>
                </a:solidFill>
              </a:rPr>
              <a:t>Phase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D0A03D0-D21C-4FB0-AD63-694052AB8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1933575"/>
            <a:ext cx="46386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55555"/>
                </a:solidFill>
              </a:defRPr>
            </a:pPr>
            <a:r>
              <a:rPr sz="1200" b="1">
                <a:solidFill>
                  <a:srgbClr val="555555"/>
                </a:solidFill>
              </a:rPr>
              <a:t>What we add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C36765A-68D8-4203-9E9A-30FD86C9E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7575" y="1933575"/>
            <a:ext cx="42767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55555"/>
                </a:solidFill>
              </a:defRPr>
            </a:pPr>
            <a:r>
              <a:rPr sz="1200" b="1">
                <a:solidFill>
                  <a:srgbClr val="555555"/>
                </a:solidFill>
              </a:rPr>
              <a:t>Client value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3968687-E344-491F-96F0-5103E1C7E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81250"/>
            <a:ext cx="1447800" cy="4610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00000"/>
                </a:solidFill>
              </a:defRPr>
            </a:pPr>
            <a:r>
              <a:rPr sz="1125" b="0">
                <a:solidFill>
                  <a:srgbClr val="000000"/>
                </a:solidFill>
              </a:rPr>
              <a:t>1. Instrumentation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C0EAC18-2157-4359-8112-8CE447103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2381250"/>
            <a:ext cx="4638675" cy="4610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00000"/>
                </a:solidFill>
              </a:defRPr>
            </a:pPr>
            <a:r>
              <a:rPr sz="1125" b="0">
                <a:solidFill>
                  <a:srgbClr val="000000"/>
                </a:solidFill>
              </a:rPr>
              <a:t>GA4 events, form-start tracking, UTM capture, canonical URLs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8C229D3-1E9C-4365-8DBC-E34DF9333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7575" y="2381250"/>
            <a:ext cx="4276725" cy="4610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00000"/>
                </a:solidFill>
              </a:defRPr>
            </a:pPr>
            <a:r>
              <a:rPr sz="1125" b="0">
                <a:solidFill>
                  <a:srgbClr val="000000"/>
                </a:solidFill>
              </a:rPr>
              <a:t>Trustworthy measurement foundation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11D81E3-F83F-46A7-B3A8-FBC53B23C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975610"/>
            <a:ext cx="1447800" cy="4610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00000"/>
                </a:solidFill>
              </a:defRPr>
            </a:pPr>
            <a:r>
              <a:rPr sz="1125" b="0">
                <a:solidFill>
                  <a:srgbClr val="000000"/>
                </a:solidFill>
              </a:rPr>
              <a:t>2. Search data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2CFACC7-A50B-4416-A96B-7639797C6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2975610"/>
            <a:ext cx="4638675" cy="4610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00000"/>
                </a:solidFill>
              </a:defRPr>
            </a:pPr>
            <a:r>
              <a:rPr sz="1125" b="0">
                <a:solidFill>
                  <a:srgbClr val="000000"/>
                </a:solidFill>
              </a:rPr>
              <a:t>Search Console API, sitemap automation, query/page history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A107AEB-5DCC-4014-9A54-6A3AF5FA3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7575" y="2975610"/>
            <a:ext cx="4276725" cy="4610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00000"/>
                </a:solidFill>
              </a:defRPr>
            </a:pPr>
            <a:r>
              <a:rPr sz="1125" b="0">
                <a:solidFill>
                  <a:srgbClr val="000000"/>
                </a:solidFill>
              </a:rPr>
              <a:t>Visibility into ranking and click performance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3CC227E-22A2-4AB9-9125-E700CF08C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569970"/>
            <a:ext cx="1447800" cy="4610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00000"/>
                </a:solidFill>
              </a:defRPr>
            </a:pPr>
            <a:r>
              <a:rPr sz="1125" b="0">
                <a:solidFill>
                  <a:srgbClr val="000000"/>
                </a:solidFill>
              </a:rPr>
              <a:t>3. Agent scoring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5E1F08D-213A-4AF7-82A9-3617BB637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3569970"/>
            <a:ext cx="4638675" cy="4610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00000"/>
                </a:solidFill>
              </a:defRPr>
            </a:pPr>
            <a:r>
              <a:rPr sz="1125" b="0">
                <a:solidFill>
                  <a:srgbClr val="000000"/>
                </a:solidFill>
              </a:rPr>
              <a:t>SEO health score, decision matrix, severity, owners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0830FC3-E5F2-4059-9564-4A115C772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7575" y="3569970"/>
            <a:ext cx="4276725" cy="4610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00000"/>
                </a:solidFill>
              </a:defRPr>
            </a:pPr>
            <a:r>
              <a:rPr sz="1125" b="0">
                <a:solidFill>
                  <a:srgbClr val="000000"/>
                </a:solidFill>
              </a:rPr>
              <a:t>Prioritized next-best actions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16C0633-EBD2-4728-92EA-FBC44F921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64330"/>
            <a:ext cx="1447800" cy="4610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00000"/>
                </a:solidFill>
              </a:defRPr>
            </a:pPr>
            <a:r>
              <a:rPr sz="1125" b="0">
                <a:solidFill>
                  <a:srgbClr val="000000"/>
                </a:solidFill>
              </a:rPr>
              <a:t>4. Refresh workflow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60D4BEF-8B11-4608-AD4F-830C705BE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4164330"/>
            <a:ext cx="4638675" cy="4610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00000"/>
                </a:solidFill>
              </a:defRPr>
            </a:pPr>
            <a:r>
              <a:rPr sz="1125" b="0">
                <a:solidFill>
                  <a:srgbClr val="000000"/>
                </a:solidFill>
              </a:rPr>
              <a:t>Version history, before/after reporting, A/B testing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AC8D27D-61AD-482B-ADB8-D95AD7C4D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7575" y="4164330"/>
            <a:ext cx="4276725" cy="4610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00000"/>
                </a:solidFill>
              </a:defRPr>
            </a:pPr>
            <a:r>
              <a:rPr sz="1125" b="0">
                <a:solidFill>
                  <a:srgbClr val="000000"/>
                </a:solidFill>
              </a:rPr>
              <a:t>Clear proof of improvement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6476DA1-8903-4889-BDB9-726D5E810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758690"/>
            <a:ext cx="1447800" cy="4610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00000"/>
                </a:solidFill>
              </a:defRPr>
            </a:pPr>
            <a:r>
              <a:rPr sz="1125" b="0">
                <a:solidFill>
                  <a:srgbClr val="000000"/>
                </a:solidFill>
              </a:rPr>
              <a:t>5. Scale engine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5BAEBBF-AAD0-45CC-A539-F63494A92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4758690"/>
            <a:ext cx="4638675" cy="4610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00000"/>
                </a:solidFill>
              </a:defRPr>
            </a:pPr>
            <a:r>
              <a:rPr sz="1125" b="0">
                <a:solidFill>
                  <a:srgbClr val="000000"/>
                </a:solidFill>
              </a:rPr>
              <a:t>New page opportunities from winning queries and segments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FA1E778-7C39-4DB5-8501-F986494CF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7575" y="4758690"/>
            <a:ext cx="4276725" cy="4610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00000"/>
                </a:solidFill>
              </a:defRPr>
            </a:pPr>
            <a:r>
              <a:rPr sz="1125" b="0">
                <a:solidFill>
                  <a:srgbClr val="000000"/>
                </a:solidFill>
              </a:rPr>
              <a:t>Repeatable organic pipeline growth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90ED3F8-776F-4DBF-8A20-D7C8B86AD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436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46298428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4A2FCCB-4399-4120-9FA7-37F368BB5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552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Marketing Agent / SEO Analytics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2713DB-7AAF-4ED3-8A4C-837D9EB96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42950"/>
            <a:ext cx="9525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00000"/>
                </a:solidFill>
              </a:defRPr>
            </a:pPr>
            <a:r>
              <a:rPr sz="3150" b="1">
                <a:solidFill>
                  <a:srgbClr val="000000"/>
                </a:solidFill>
              </a:rPr>
              <a:t>Client talk track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B5D428-41D9-4E4A-849D-1A891BD4F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6685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F7F550-7E86-4852-9586-2DDB6F6A5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47875"/>
            <a:ext cx="10096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00000"/>
                </a:solidFill>
              </a:defRPr>
            </a:pPr>
            <a:r>
              <a:rPr sz="2250" b="1">
                <a:solidFill>
                  <a:srgbClr val="000000"/>
                </a:solidFill>
              </a:rPr>
              <a:t>The Marketing Agent creates SEO landing pages from buyer-intent demand signals.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405DAC-76FE-4D09-B0C2-67E42B0F3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57500"/>
            <a:ext cx="9620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55555"/>
                </a:solidFill>
              </a:defRPr>
            </a:pPr>
            <a:r>
              <a:rPr sz="1875" b="0">
                <a:solidFill>
                  <a:srgbClr val="555555"/>
                </a:solidFill>
              </a:rPr>
              <a:t>The real value is the refresh loop: once pages are live, the system monitors search visibility, clicks, visits, and lead conversions. It then recommends whether to improve discovery, improve click-through rate, improve landing-page conversion, or scale a winning page into more content.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43AC89-4C64-4AFE-82EF-9D88EB18D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686300"/>
            <a:ext cx="985837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52F5C08-2B70-4B73-BE40-EF79A1243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876800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55555"/>
                </a:solidFill>
              </a:defRPr>
            </a:pPr>
            <a:r>
              <a:rPr sz="1350" b="1">
                <a:solidFill>
                  <a:srgbClr val="555555"/>
                </a:solidFill>
              </a:rPr>
              <a:t>Positioning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D4813D5-9943-427E-B5C4-B04E221AB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838700"/>
            <a:ext cx="7620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An AI-powered demand generation engine that uses SEO landing pages, lead capture, and analytics-driven refresh recommendations to continuously improve inbound pipeline.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97D3838-40F6-4DAD-AF0C-458D03752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436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3630511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2026-07-04T14:03:23.6590000Z</dcterms:created>
  <dcterms:modified xsi:type="dcterms:W3CDTF">2026-07-04T14:03:23.6590000Z</dcterms:modified>
</coreProperties>
</file>